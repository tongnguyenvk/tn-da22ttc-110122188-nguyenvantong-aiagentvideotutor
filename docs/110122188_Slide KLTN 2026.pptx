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71" r:id="rId3"/>
    <p:sldId id="282" r:id="rId4"/>
    <p:sldId id="289" r:id="rId5"/>
    <p:sldId id="288" r:id="rId6"/>
    <p:sldId id="292" r:id="rId7"/>
    <p:sldId id="323" r:id="rId8"/>
    <p:sldId id="321" r:id="rId9"/>
    <p:sldId id="293" r:id="rId10"/>
    <p:sldId id="294" r:id="rId11"/>
    <p:sldId id="320" r:id="rId12"/>
    <p:sldId id="311" r:id="rId13"/>
    <p:sldId id="312" r:id="rId14"/>
    <p:sldId id="313" r:id="rId15"/>
    <p:sldId id="322" r:id="rId16"/>
    <p:sldId id="281" r:id="rId17"/>
  </p:sldIdLst>
  <p:sldSz cx="9144000" cy="6858000" type="screen4x3"/>
  <p:notesSz cx="6858000" cy="9144000"/>
  <p:custDataLst>
    <p:tags r:id="rId20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FF3300"/>
    <a:srgbClr val="996633"/>
    <a:srgbClr val="FFFF00"/>
    <a:srgbClr val="CC3300"/>
    <a:srgbClr val="99CC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1" autoAdjust="0"/>
    <p:restoredTop sz="94660"/>
  </p:normalViewPr>
  <p:slideViewPr>
    <p:cSldViewPr>
      <p:cViewPr varScale="1">
        <p:scale>
          <a:sx n="84" d="100"/>
          <a:sy n="84" d="100"/>
        </p:scale>
        <p:origin x="143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-1224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377DFF68-F441-4737-81A2-F7B700CBC8E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1410374B-11B4-4F96-945F-B8D2F29CEA7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7AB78DB3-E698-4E83-A400-CA888018BF4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8DB28DF6-1A24-41B2-B8BD-F0412516E00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81F836BC-339B-4A6E-8A7A-85CE1E8D8F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F1791A2-94F1-49C2-86E4-1AF383B4D8A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C8C0FCA0-0D9E-4A10-8035-66E5B6A39CD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EBB4087-1045-4F0E-DBA0-092A6EC043D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EE10B576-0994-4024-962D-AAC24E8AB1D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DBFD464D-2E29-4565-A5FC-5269744D629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A025FF9D-59F1-4427-99BC-E51A638F6C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5E2176C-5AD1-4865-BD4C-72BDAE02362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2176C-5AD1-4865-BD4C-72BDAE023621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3896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7144C-20C0-0068-3CE6-0EC640DAC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A3492-2704-9E1B-FA18-A1A923D82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33B38-97E8-D09C-7DA4-2944343BF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3655FB-E6E2-433C-97CD-5717ABF2D7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5525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5474E9F4-8BAE-7A23-7806-D1C9AF6006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86500"/>
            <a:ext cx="9144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6FF5E2-F0E0-B31F-178D-330F089749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96938"/>
            <a:ext cx="9144000" cy="8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757C392-FD57-330B-22A1-ECAFDE805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8674662-2ECE-592A-C55A-9AD5C886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37AD64D-3736-5E8B-F61F-4E9C7B262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E0B73A-6950-49A0-9672-EE4824808C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3728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01DA6-0D47-12B4-4853-B373F4870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B735A-3F8A-A730-F496-F1E160464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7593F-969B-EAD5-19C2-DA9AD075B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4DAD2B-9C82-4980-A1AC-67F72372E9F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0532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B3AB5AB-1603-8244-CAD0-B17F9B3BA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C076B78-EC30-6C3C-B355-4312FC7D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197E996-CDEA-84EC-BDB2-70083756A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3928FB-3BDB-492D-8BFE-45796ACBE5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4997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AAD6320-A5CB-5D49-82E0-534E28833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9FBFEA5-1D05-A24C-4541-0B3ACFB05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F050C11-35C7-747C-B8D2-1F4B8F0C2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2B5C40-6313-41A2-9912-6AE07CB0F59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9699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8CF4214-3570-F525-9CAF-627B294B5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376BA37-177E-D21A-CBED-82E75CDFD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5E20124-63EE-6EC9-1887-F85D3E6DB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8E0A1E-345F-43AD-B009-CA7685EC470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8179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0D682DA-D354-D260-6828-B9653AC69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F6E7633-4763-9E35-DEDA-867459C68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27D2E05-ADB4-F9CF-B85A-3A85499C2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7D9EB3-FE9E-4BDD-9DE9-7CFFBA01477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1347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BDB1FBA-CEFA-9215-D006-2C06C0CE3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782A1FC-CAEB-2C3B-509C-6A2672C10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26C5DCF-4540-CF39-2AD3-55BF34AE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C811DD-B96C-43D2-9A4C-42D3D059F3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906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DFA70FC-BB58-D547-A8D8-BA3FE835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5152AD-30FF-9EC7-3AEE-780759334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8765D25-2D02-F65D-2C2E-4BE9BDE64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6D62B-3DDB-450D-B6CB-A8C3FDD4C64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2507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4E70C-8395-C512-F8F3-FFB4AEFDC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B73BE-DC3A-7C6E-24E7-8A83541C9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5AF24-2C2A-9879-A01D-BB7D6724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66072A-9010-4AED-9E18-9F0D29F01C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9155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3CB94-FB3B-B178-FA98-FF8B03FF0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2C9B0-FCDE-B678-B624-91CEFB936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10643-A4E2-808C-71F8-262989FA6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9199F9-C30C-4A85-8E61-0A4ED9F3EE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9378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A5A503DB-E7A9-0FBD-F3FD-6787F2B2F6E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D2E2141-5C51-A4C7-B558-96C7486098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1EF2D-B04E-4B6D-A20B-DE92302E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F937C-1255-4CE3-A0BE-25E03B061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58A6A-BBAA-416D-8862-150CA33CF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fld id="{E39C76B8-587B-4F39-AEFD-87C5BE1FB14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  <p:sldLayoutId id="2147483997" r:id="rId2"/>
    <p:sldLayoutId id="2147483988" r:id="rId3"/>
    <p:sldLayoutId id="2147483989" r:id="rId4"/>
    <p:sldLayoutId id="2147483990" r:id="rId5"/>
    <p:sldLayoutId id="2147483991" r:id="rId6"/>
    <p:sldLayoutId id="2147483992" r:id="rId7"/>
    <p:sldLayoutId id="2147483993" r:id="rId8"/>
    <p:sldLayoutId id="2147483994" r:id="rId9"/>
    <p:sldLayoutId id="2147483995" r:id="rId10"/>
    <p:sldLayoutId id="2147483996" r:id="rId11"/>
  </p:sldLayoutIdLst>
  <p:hf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>
            <a:extLst>
              <a:ext uri="{FF2B5EF4-FFF2-40B4-BE49-F238E27FC236}">
                <a16:creationId xmlns:a16="http://schemas.microsoft.com/office/drawing/2014/main" id="{D2B73054-D115-3A6F-AA9A-5C4F9CD80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B4DD5E8-1562-4C9E-B460-8CB3B0459201}" type="slidenum">
              <a:rPr lang="en-US" altLang="en-US">
                <a:solidFill>
                  <a:srgbClr val="FFFFFF"/>
                </a:solidFill>
              </a:rPr>
              <a:pPr/>
              <a:t>1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123" name="Text Box 4">
            <a:extLst>
              <a:ext uri="{FF2B5EF4-FFF2-40B4-BE49-F238E27FC236}">
                <a16:creationId xmlns:a16="http://schemas.microsoft.com/office/drawing/2014/main" id="{41FA7D42-96FE-0FE7-963D-CFD993720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449263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vi-VN" altLang="vi-VN" sz="3200" b="1"/>
              <a:t>ĐỒ ÁN TỐT NGHIỆP</a:t>
            </a:r>
            <a:endParaRPr lang="en-US" altLang="vi-VN" sz="3200" b="1"/>
          </a:p>
        </p:txBody>
      </p:sp>
      <p:sp>
        <p:nvSpPr>
          <p:cNvPr id="5124" name="AutoShape 13" descr="Kết quả hình ảnh cho ước lượng">
            <a:extLst>
              <a:ext uri="{FF2B5EF4-FFF2-40B4-BE49-F238E27FC236}">
                <a16:creationId xmlns:a16="http://schemas.microsoft.com/office/drawing/2014/main" id="{536D0AE8-60BB-9ADB-8FE6-63D6E97B2C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5" name="AutoShape 15" descr="Kết quả hình ảnh cho ước lượng">
            <a:extLst>
              <a:ext uri="{FF2B5EF4-FFF2-40B4-BE49-F238E27FC236}">
                <a16:creationId xmlns:a16="http://schemas.microsoft.com/office/drawing/2014/main" id="{219F9856-3751-80BC-D8D5-2EADFBF6D5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6" name="AutoShape 17" descr="Kết quả hình ảnh cho ước lượng">
            <a:extLst>
              <a:ext uri="{FF2B5EF4-FFF2-40B4-BE49-F238E27FC236}">
                <a16:creationId xmlns:a16="http://schemas.microsoft.com/office/drawing/2014/main" id="{5F44B8C8-E51E-E54A-3DB7-2FDE0D4582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7" name="AutoShape 19" descr="Kết quả hình ảnh cho ước lượng">
            <a:extLst>
              <a:ext uri="{FF2B5EF4-FFF2-40B4-BE49-F238E27FC236}">
                <a16:creationId xmlns:a16="http://schemas.microsoft.com/office/drawing/2014/main" id="{28354B31-067E-A4E7-711C-96DB44DC4E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5128" name="Picture 9">
            <a:extLst>
              <a:ext uri="{FF2B5EF4-FFF2-40B4-BE49-F238E27FC236}">
                <a16:creationId xmlns:a16="http://schemas.microsoft.com/office/drawing/2014/main" id="{2AB7C120-7CEB-2663-6ADC-2FE4004AAF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198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0" name="Text Box 4">
            <a:extLst>
              <a:ext uri="{FF2B5EF4-FFF2-40B4-BE49-F238E27FC236}">
                <a16:creationId xmlns:a16="http://schemas.microsoft.com/office/drawing/2014/main" id="{EFEAB6CF-85AD-447F-6F08-DDF323552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61925"/>
            <a:ext cx="7899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vi-VN" altLang="vi-VN" sz="2000"/>
              <a:t>BÁO CÁO</a:t>
            </a:r>
            <a:endParaRPr lang="en-US" altLang="vi-VN" sz="2000"/>
          </a:p>
        </p:txBody>
      </p:sp>
      <p:sp>
        <p:nvSpPr>
          <p:cNvPr id="5131" name="Text Box 4">
            <a:extLst>
              <a:ext uri="{FF2B5EF4-FFF2-40B4-BE49-F238E27FC236}">
                <a16:creationId xmlns:a16="http://schemas.microsoft.com/office/drawing/2014/main" id="{AB2E7EA6-C94D-5454-7D01-56D7A01D0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987490"/>
            <a:ext cx="37147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vi-VN" altLang="vi-VN"/>
              <a:t>Học kỳ II – 2025-2026</a:t>
            </a:r>
            <a:endParaRPr lang="en-US" altLang="vi-VN"/>
          </a:p>
        </p:txBody>
      </p:sp>
      <p:sp>
        <p:nvSpPr>
          <p:cNvPr id="5132" name="Text Box 4">
            <a:extLst>
              <a:ext uri="{FF2B5EF4-FFF2-40B4-BE49-F238E27FC236}">
                <a16:creationId xmlns:a16="http://schemas.microsoft.com/office/drawing/2014/main" id="{63469D49-2C93-D731-72D2-FD9F1C771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587" y="1891081"/>
            <a:ext cx="837882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vi-VN" sz="3200" b="1"/>
              <a:t>NGHIÊN CỨU TRIỂN KHAI AI AGENT ĐỂ TỰ ĐỘNG HÓA QUY TRÌNH XÂY DỰNG VIDEO BÀI GIẢNG.</a:t>
            </a:r>
          </a:p>
        </p:txBody>
      </p:sp>
      <p:sp>
        <p:nvSpPr>
          <p:cNvPr id="5133" name="Content Placeholder 2">
            <a:extLst>
              <a:ext uri="{FF2B5EF4-FFF2-40B4-BE49-F238E27FC236}">
                <a16:creationId xmlns:a16="http://schemas.microsoft.com/office/drawing/2014/main" id="{ADF0D6D3-7206-412A-5A6F-07536F1AE2E5}"/>
              </a:ext>
            </a:extLst>
          </p:cNvPr>
          <p:cNvSpPr txBox="1">
            <a:spLocks/>
          </p:cNvSpPr>
          <p:nvPr/>
        </p:nvSpPr>
        <p:spPr bwMode="auto">
          <a:xfrm>
            <a:off x="1949442" y="3422182"/>
            <a:ext cx="4840097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4290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68580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02870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37160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182880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28600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74320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20040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vi-VN" altLang="en-US" sz="1800">
                <a:latin typeface="Arial" panose="020B0604020202020204" pitchFamily="34" charset="0"/>
                <a:cs typeface="Arial" panose="020B0604020202020204" pitchFamily="34" charset="0"/>
              </a:rPr>
              <a:t>Giảng viên hướng dẫn: TS. Nguyễn Bảo Ân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7BCCD6A-98A3-1D1E-1964-A8E8E2FC220B}"/>
              </a:ext>
            </a:extLst>
          </p:cNvPr>
          <p:cNvSpPr txBox="1">
            <a:spLocks/>
          </p:cNvSpPr>
          <p:nvPr/>
        </p:nvSpPr>
        <p:spPr bwMode="auto">
          <a:xfrm>
            <a:off x="1970778" y="3882850"/>
            <a:ext cx="4377930" cy="1197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4290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68580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02870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37160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182880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28600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74320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20040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vi-VN" altLang="en-US" sz="1800">
                <a:latin typeface="Arial" panose="020B0604020202020204" pitchFamily="34" charset="0"/>
                <a:cs typeface="Arial" panose="020B0604020202020204" pitchFamily="34" charset="0"/>
              </a:rPr>
              <a:t>Sinh viên thực hiện: Nguyễn Văn Tổng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vi-VN" altLang="en-US" sz="1800">
                <a:latin typeface="Arial" panose="020B0604020202020204" pitchFamily="34" charset="0"/>
                <a:cs typeface="Arial" panose="020B0604020202020204" pitchFamily="34" charset="0"/>
              </a:rPr>
              <a:t>MSSV: 110122188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>
            <a:extLst>
              <a:ext uri="{FF2B5EF4-FFF2-40B4-BE49-F238E27FC236}">
                <a16:creationId xmlns:a16="http://schemas.microsoft.com/office/drawing/2014/main" id="{33CD69E4-6D93-8FC1-0DA5-927C69EFC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DCDDEC7-5138-4073-AB9D-90723DC2E539}" type="slidenum">
              <a:rPr lang="en-US" altLang="en-US" sz="1200"/>
              <a:pPr/>
              <a:t>2</a:t>
            </a:fld>
            <a:r>
              <a:rPr lang="en-US" altLang="en-US" sz="1200"/>
              <a:t> / 15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E2F29ED-DC0B-4BD5-8C89-2E7840FF5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8588"/>
            <a:ext cx="8991600" cy="715962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25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Bối cảnh và vấn đề </a:t>
            </a:r>
            <a:endParaRPr lang="en-US" sz="25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172" name="Content Placeholder 2">
            <a:extLst>
              <a:ext uri="{FF2B5EF4-FFF2-40B4-BE49-F238E27FC236}">
                <a16:creationId xmlns:a16="http://schemas.microsoft.com/office/drawing/2014/main" id="{6AE00EBD-1725-CD64-BE8D-CB4F1C582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524000"/>
            <a:ext cx="7162800" cy="2605786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/>
              <a:t>Nhu cầu video bài giảng ngày càng tăng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/>
              <a:t>Quy trình sản xuất còn nhiều bước thủ công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/>
              <a:t>Công cụ AI hiện tại chưa tự động hóa toàn trình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/>
              <a:t>Cần hệ thống kết hợp AI, tự động hóa và xử lý video</a:t>
            </a:r>
            <a:endParaRPr lang="vi-VN" spc="1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>
            <a:extLst>
              <a:ext uri="{FF2B5EF4-FFF2-40B4-BE49-F238E27FC236}">
                <a16:creationId xmlns:a16="http://schemas.microsoft.com/office/drawing/2014/main" id="{43BB6CFF-0EB2-74BB-472B-5C0AA0891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2A90D21-63EA-4C9B-ABD1-E95ED6198A32}" type="slidenum">
              <a:rPr lang="en-US" altLang="en-US" sz="1200"/>
              <a:pPr/>
              <a:t>3</a:t>
            </a:fld>
            <a:r>
              <a:rPr lang="en-US" altLang="en-US" sz="1200"/>
              <a:t> / 15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E2F29ED-DC0B-4BD5-8C89-2E7840FF5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8588"/>
            <a:ext cx="8991600" cy="715962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25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Khoảng trống và mục tiêu nghiên cứu</a:t>
            </a:r>
            <a:endParaRPr lang="en-US" sz="25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196" name="Content Placeholder 2">
            <a:extLst>
              <a:ext uri="{FF2B5EF4-FFF2-40B4-BE49-F238E27FC236}">
                <a16:creationId xmlns:a16="http://schemas.microsoft.com/office/drawing/2014/main" id="{94C4437D-8F70-E300-1FC2-76DBF723C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075" y="1077912"/>
            <a:ext cx="8705850" cy="4953000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 b="1"/>
              <a:t>Khoảng trống</a:t>
            </a:r>
            <a:endParaRPr lang="vi-VN"/>
          </a:p>
          <a:p>
            <a:pPr marL="3429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 sz="2100"/>
              <a:t>Thiếu hệ thống kết hợp AI Agent, thao tác phần mềm thực và kiểm duyệt nội dung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 b="1"/>
              <a:t>Mục tiêu</a:t>
            </a:r>
            <a:endParaRPr lang="vi-VN"/>
          </a:p>
          <a:p>
            <a:pPr marL="3429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 sz="2100"/>
              <a:t>Tự động tạo video bài giảng từ tài liệu/URL </a:t>
            </a:r>
          </a:p>
          <a:p>
            <a:pPr marL="3429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 sz="2100"/>
              <a:t>Thiết kế kiến trúc Worker phân tán </a:t>
            </a:r>
          </a:p>
          <a:p>
            <a:pPr marL="3429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 sz="2100"/>
              <a:t>Đồng bộ lời thoại và thao tác hình ảnh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>
            <a:extLst>
              <a:ext uri="{FF2B5EF4-FFF2-40B4-BE49-F238E27FC236}">
                <a16:creationId xmlns:a16="http://schemas.microsoft.com/office/drawing/2014/main" id="{A4E2AA06-5C98-7F87-3AB4-632718763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4DCF54E-25DA-469D-A4DC-844CA5A83A4C}" type="slidenum">
              <a:rPr lang="en-US" altLang="en-US" sz="1200"/>
              <a:pPr/>
              <a:t>4</a:t>
            </a:fld>
            <a:r>
              <a:rPr lang="en-US" altLang="en-US" sz="1200"/>
              <a:t> / 15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E2F29ED-DC0B-4BD5-8C89-2E7840FF5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8588"/>
            <a:ext cx="8991600" cy="715962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25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AI Agent và ReAct</a:t>
            </a:r>
            <a:endParaRPr lang="en-US" sz="25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D16F53-F78D-9879-937A-68FB16C2F59F}"/>
              </a:ext>
            </a:extLst>
          </p:cNvPr>
          <p:cNvSpPr txBox="1"/>
          <p:nvPr/>
        </p:nvSpPr>
        <p:spPr>
          <a:xfrm>
            <a:off x="490537" y="1143000"/>
            <a:ext cx="7496176" cy="1971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100"/>
              <a:t>LLM không chỉ sinh văn bản, mà tham gia suy luận và điều phối công cụ </a:t>
            </a:r>
          </a:p>
          <a:p>
            <a:pPr>
              <a:lnSpc>
                <a:spcPct val="150000"/>
              </a:lnSpc>
            </a:pPr>
            <a:r>
              <a:rPr lang="vi-VN" sz="2100"/>
              <a:t>ReAct: Suy luận → Hành động → Quan sát Phù hợp với bài toán thao tác trên tài liệu và giao diện thực</a:t>
            </a:r>
          </a:p>
        </p:txBody>
      </p:sp>
      <p:pic>
        <p:nvPicPr>
          <p:cNvPr id="1026" name="Picture 2" descr="Hiểu về khuôn khổ ReAct: Phần 2 của loạt blog của tôi về Agents">
            <a:extLst>
              <a:ext uri="{FF2B5EF4-FFF2-40B4-BE49-F238E27FC236}">
                <a16:creationId xmlns:a16="http://schemas.microsoft.com/office/drawing/2014/main" id="{21E5CA96-8883-4BF1-E347-B1D6F6A2B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80" r="1344" b="2602"/>
          <a:stretch>
            <a:fillRect/>
          </a:stretch>
        </p:blipFill>
        <p:spPr bwMode="auto">
          <a:xfrm>
            <a:off x="2214129" y="3279656"/>
            <a:ext cx="5382491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>
            <a:extLst>
              <a:ext uri="{FF2B5EF4-FFF2-40B4-BE49-F238E27FC236}">
                <a16:creationId xmlns:a16="http://schemas.microsoft.com/office/drawing/2014/main" id="{81FEBF2C-5B86-097F-73A8-243235A3D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545E478-B5A1-4538-9B1D-4A5C94178712}" type="slidenum">
              <a:rPr lang="en-US" altLang="en-US" sz="1200"/>
              <a:pPr/>
              <a:t>5</a:t>
            </a:fld>
            <a:r>
              <a:rPr lang="en-US" altLang="en-US" sz="1200"/>
              <a:t> / 15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E2F29ED-DC0B-4BD5-8C89-2E7840FF5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8588"/>
            <a:ext cx="8991600" cy="715962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25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Kiến trúc tổng thể</a:t>
            </a:r>
            <a:endParaRPr lang="en-US" sz="25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416F2D8-81E0-C067-B728-B91ED01213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1066800"/>
            <a:ext cx="6705600" cy="5035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>
            <a:extLst>
              <a:ext uri="{FF2B5EF4-FFF2-40B4-BE49-F238E27FC236}">
                <a16:creationId xmlns:a16="http://schemas.microsoft.com/office/drawing/2014/main" id="{0D3D2AC3-A807-F2AB-52AD-C37376260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2E386B8-924F-470D-9846-3C670E8B4EAD}" type="slidenum">
              <a:rPr lang="en-US" altLang="en-US" sz="1200"/>
              <a:pPr/>
              <a:t>6</a:t>
            </a:fld>
            <a:r>
              <a:rPr lang="en-US" altLang="en-US" sz="1200"/>
              <a:t> / 15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E2F29ED-DC0B-4BD5-8C89-2E7840FF5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8588"/>
            <a:ext cx="8991600" cy="715962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25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Kiến trúc worker</a:t>
            </a:r>
            <a:endParaRPr lang="en-US" sz="25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8DA1D18-8120-F251-15E9-DC4BCD6BF6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5217" r="-1208"/>
          <a:stretch>
            <a:fillRect/>
          </a:stretch>
        </p:blipFill>
        <p:spPr bwMode="auto">
          <a:xfrm>
            <a:off x="581025" y="1757362"/>
            <a:ext cx="7981950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A5658-387F-96FB-C651-7E09BEFF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>
            <a:extLst>
              <a:ext uri="{FF2B5EF4-FFF2-40B4-BE49-F238E27FC236}">
                <a16:creationId xmlns:a16="http://schemas.microsoft.com/office/drawing/2014/main" id="{9A6761E6-F2F5-8A6D-39A9-F141D4BA9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2E386B8-924F-470D-9846-3C670E8B4EAD}" type="slidenum">
              <a:rPr lang="en-US" altLang="en-US" sz="1200"/>
              <a:pPr/>
              <a:t>7</a:t>
            </a:fld>
            <a:r>
              <a:rPr lang="en-US" altLang="en-US" sz="1200"/>
              <a:t> / 15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F1C43B0-54C0-8122-46D5-90A2A74D0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8588"/>
            <a:ext cx="8991600" cy="715962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25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Các cơ chế kỹ thuật được sử dụng</a:t>
            </a:r>
            <a:endParaRPr lang="en-US" sz="25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57F9F76-9473-2500-313B-DADA3679C8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10293" y="1790700"/>
            <a:ext cx="7923413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7624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079C6-CB4D-6340-E710-F5B6A3C90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>
            <a:extLst>
              <a:ext uri="{FF2B5EF4-FFF2-40B4-BE49-F238E27FC236}">
                <a16:creationId xmlns:a16="http://schemas.microsoft.com/office/drawing/2014/main" id="{53678CCB-558A-2CA6-5B54-80E01678C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545E478-B5A1-4538-9B1D-4A5C94178712}" type="slidenum">
              <a:rPr lang="en-US" altLang="en-US" sz="1200"/>
              <a:pPr/>
              <a:t>8</a:t>
            </a:fld>
            <a:r>
              <a:rPr lang="en-US" altLang="en-US" sz="1200"/>
              <a:t> / 15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CF06C2A-EB1E-F540-3E39-D3BDDC3A6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8588"/>
            <a:ext cx="8991600" cy="715962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25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Điều phối bất đồng bộ</a:t>
            </a:r>
            <a:endParaRPr lang="en-US" sz="25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280" name="Content Placeholder 2">
            <a:extLst>
              <a:ext uri="{FF2B5EF4-FFF2-40B4-BE49-F238E27FC236}">
                <a16:creationId xmlns:a16="http://schemas.microsoft.com/office/drawing/2014/main" id="{B973034D-9702-2461-43F0-6EB70A9EC7A5}"/>
              </a:ext>
            </a:extLst>
          </p:cNvPr>
          <p:cNvSpPr txBox="1">
            <a:spLocks/>
          </p:cNvSpPr>
          <p:nvPr/>
        </p:nvSpPr>
        <p:spPr bwMode="auto">
          <a:xfrm>
            <a:off x="228600" y="990600"/>
            <a:ext cx="4952999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50000"/>
              </a:lnSpc>
              <a:buNone/>
            </a:pPr>
            <a:endParaRPr lang="vi-VN" altLang="vi-VN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557C80-DDE7-EA3C-3692-4F4E42C19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83792"/>
            <a:ext cx="7521629" cy="395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904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>
            <a:extLst>
              <a:ext uri="{FF2B5EF4-FFF2-40B4-BE49-F238E27FC236}">
                <a16:creationId xmlns:a16="http://schemas.microsoft.com/office/drawing/2014/main" id="{1C2C2DDA-5F83-A93A-0E4B-D976A8C1D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34D05D-9849-4055-B0BC-3E79A72CD4EA}" type="slidenum">
              <a:rPr lang="en-US" altLang="en-US" sz="1200"/>
              <a:pPr/>
              <a:t>9</a:t>
            </a:fld>
            <a:r>
              <a:rPr lang="en-US" altLang="en-US" sz="1200"/>
              <a:t> / 15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E2F29ED-DC0B-4BD5-8C89-2E7840FF5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8588"/>
            <a:ext cx="8991600" cy="715962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25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Cơ chế điểm dừng kiểm duyệt</a:t>
            </a:r>
            <a:endParaRPr lang="en-US" sz="25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84899E74-C73D-2450-34D6-69A2FBA12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50" y="1231392"/>
            <a:ext cx="8553450" cy="189515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vi-VN"/>
              <a:t>AI sinh kịch bản ban đầu</a:t>
            </a:r>
            <a:br>
              <a:rPr lang="vi-VN"/>
            </a:br>
            <a:r>
              <a:rPr lang="vi-VN"/>
              <a:t>Người dùng kiểm duyệt và chỉnh sửa</a:t>
            </a:r>
            <a:br>
              <a:rPr lang="vi-VN"/>
            </a:br>
            <a:r>
              <a:rPr lang="vi-VN"/>
              <a:t>Worker tiếp tục TTS, quay và render</a:t>
            </a:r>
            <a:endParaRPr lang="vi-VN" altLang="vi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82BA7A-6823-F1A4-D308-A96B31D6F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97" y="3126543"/>
            <a:ext cx="7806806" cy="25000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>
            <a:extLst>
              <a:ext uri="{FF2B5EF4-FFF2-40B4-BE49-F238E27FC236}">
                <a16:creationId xmlns:a16="http://schemas.microsoft.com/office/drawing/2014/main" id="{8E047D7F-8AAC-BEF9-68C6-77544091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CD2E03-4054-4CF1-AAF1-E46BAE786809}" type="slidenum">
              <a:rPr lang="en-US" altLang="en-US" sz="1200"/>
              <a:pPr/>
              <a:t>10</a:t>
            </a:fld>
            <a:r>
              <a:rPr lang="en-US" altLang="en-US" sz="1200"/>
              <a:t> / 15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E2F29ED-DC0B-4BD5-8C89-2E7840FF5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8588"/>
            <a:ext cx="8991600" cy="715962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25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Session snapshot</a:t>
            </a:r>
            <a:endParaRPr lang="en-US" sz="25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989E10-2A88-8D50-BF66-732F53B287D3}"/>
              </a:ext>
            </a:extLst>
          </p:cNvPr>
          <p:cNvSpPr txBox="1"/>
          <p:nvPr/>
        </p:nvSpPr>
        <p:spPr>
          <a:xfrm>
            <a:off x="351662" y="1219200"/>
            <a:ext cx="8106537" cy="1486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100"/>
              <a:t>Admin đăng nhập qua noVNC</a:t>
            </a:r>
            <a:br>
              <a:rPr lang="vi-VN" sz="2100"/>
            </a:br>
            <a:r>
              <a:rPr lang="vi-VN" sz="2100"/>
              <a:t>Worker kế thừa phiên hợp lệ</a:t>
            </a:r>
            <a:br>
              <a:rPr lang="vi-VN" sz="2100"/>
            </a:br>
            <a:r>
              <a:rPr lang="vi-VN" sz="2100"/>
              <a:t>Giảm Captcha, OTP, anti-bot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D269A6-6D2E-A940-C475-2EA77C023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76" y="3080539"/>
            <a:ext cx="8241448" cy="24331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7E934-C9AA-CFA6-AC4F-0E4373455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>
            <a:extLst>
              <a:ext uri="{FF2B5EF4-FFF2-40B4-BE49-F238E27FC236}">
                <a16:creationId xmlns:a16="http://schemas.microsoft.com/office/drawing/2014/main" id="{F42189D4-8C12-7D91-BE59-779B3CA40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CD2E03-4054-4CF1-AAF1-E46BAE786809}" type="slidenum">
              <a:rPr lang="en-US" altLang="en-US" sz="1200"/>
              <a:pPr/>
              <a:t>11</a:t>
            </a:fld>
            <a:r>
              <a:rPr lang="en-US" altLang="en-US" sz="1200"/>
              <a:t> / 15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7D903D6-FE06-90A4-D927-AFFF0A843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8588"/>
            <a:ext cx="8991600" cy="715962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25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Timeline chuẩn dựa trên audio</a:t>
            </a:r>
            <a:endParaRPr lang="en-US" sz="25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FF8C15-726B-2B67-D79E-AC4E78752C19}"/>
              </a:ext>
            </a:extLst>
          </p:cNvPr>
          <p:cNvSpPr txBox="1"/>
          <p:nvPr/>
        </p:nvSpPr>
        <p:spPr>
          <a:xfrm>
            <a:off x="333374" y="1219200"/>
            <a:ext cx="8429625" cy="1685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400"/>
              <a:t>Audio làm trục thời gian chính</a:t>
            </a:r>
            <a:br>
              <a:rPr lang="vi-VN" sz="2400"/>
            </a:br>
            <a:r>
              <a:rPr lang="vi-VN" sz="2400"/>
              <a:t>Hành động tiếp tục sau từng đoạn lời thoại</a:t>
            </a:r>
            <a:br>
              <a:rPr lang="vi-VN" sz="2400"/>
            </a:br>
            <a:r>
              <a:rPr lang="vi-VN" sz="2400"/>
              <a:t>FFmpeg ghép âm thanh và video</a:t>
            </a:r>
            <a:endParaRPr lang="vi-VN" sz="21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003202-AD62-8DC4-FAE8-0742407747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30" b="13888"/>
          <a:stretch>
            <a:fillRect/>
          </a:stretch>
        </p:blipFill>
        <p:spPr>
          <a:xfrm>
            <a:off x="680499" y="3305170"/>
            <a:ext cx="7735373" cy="282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673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>
            <a:extLst>
              <a:ext uri="{FF2B5EF4-FFF2-40B4-BE49-F238E27FC236}">
                <a16:creationId xmlns:a16="http://schemas.microsoft.com/office/drawing/2014/main" id="{9D363924-4B75-B238-1C36-DFC530900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1834DF-6C4A-4210-A5EE-3C3D30127C43}" type="slidenum">
              <a:rPr lang="en-US" altLang="en-US" sz="1200"/>
              <a:pPr/>
              <a:t>12</a:t>
            </a:fld>
            <a:r>
              <a:rPr lang="en-US" altLang="en-US" sz="1200"/>
              <a:t> / 15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E2F29ED-DC0B-4BD5-8C89-2E7840FF5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8588"/>
            <a:ext cx="8991600" cy="715962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25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Đánh giá FPS</a:t>
            </a:r>
            <a:endParaRPr lang="en-US" sz="25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412" name="Content Placeholder 2">
            <a:extLst>
              <a:ext uri="{FF2B5EF4-FFF2-40B4-BE49-F238E27FC236}">
                <a16:creationId xmlns:a16="http://schemas.microsoft.com/office/drawing/2014/main" id="{67D17C6C-0952-F58D-348C-4FB8F83B9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846" y="1143000"/>
            <a:ext cx="8539353" cy="236220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vi-VN" b="1"/>
              <a:t>So sánh 12 FPS và 30 FPS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vi-VN"/>
              <a:t>	12 FPS giảm tải CPU/RAM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vi-VN"/>
              <a:t>	Chất lượng đủ cho video bài giảng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vi-VN"/>
              <a:t>	Phù hợp với VPS không có GPU</a:t>
            </a:r>
            <a:endParaRPr lang="vi-VN" altLang="vi-V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804A23-DBC6-1887-0562-37F2D3183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376525"/>
              </p:ext>
            </p:extLst>
          </p:nvPr>
        </p:nvGraphicFramePr>
        <p:xfrm>
          <a:off x="305942" y="3803650"/>
          <a:ext cx="8539353" cy="2171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27124">
                  <a:extLst>
                    <a:ext uri="{9D8B030D-6E8A-4147-A177-3AD203B41FA5}">
                      <a16:colId xmlns:a16="http://schemas.microsoft.com/office/drawing/2014/main" val="1957445866"/>
                    </a:ext>
                  </a:extLst>
                </a:gridCol>
                <a:gridCol w="2165778">
                  <a:extLst>
                    <a:ext uri="{9D8B030D-6E8A-4147-A177-3AD203B41FA5}">
                      <a16:colId xmlns:a16="http://schemas.microsoft.com/office/drawing/2014/main" val="4236575973"/>
                    </a:ext>
                  </a:extLst>
                </a:gridCol>
                <a:gridCol w="2846451">
                  <a:extLst>
                    <a:ext uri="{9D8B030D-6E8A-4147-A177-3AD203B41FA5}">
                      <a16:colId xmlns:a16="http://schemas.microsoft.com/office/drawing/2014/main" val="2703186283"/>
                    </a:ext>
                  </a:extLst>
                </a:gridCol>
              </a:tblGrid>
              <a:tr h="54284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Chỉ số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12 FPS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30 FPS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02549809"/>
                  </a:ext>
                </a:extLst>
              </a:tr>
              <a:tr h="54284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Thời gian xử lý trung bình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114.4 giây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121.4 giây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87502204"/>
                  </a:ext>
                </a:extLst>
              </a:tr>
              <a:tr h="54284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CPU trung bình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84.6%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96.6%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8944466"/>
                  </a:ext>
                </a:extLst>
              </a:tr>
              <a:tr h="54284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RAM cực đại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3.35 GB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3.85 GB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272485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>
            <a:extLst>
              <a:ext uri="{FF2B5EF4-FFF2-40B4-BE49-F238E27FC236}">
                <a16:creationId xmlns:a16="http://schemas.microsoft.com/office/drawing/2014/main" id="{B65ED661-BEB7-F118-3A55-2E8C7BB0E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05D153-54B6-4308-8BE8-3E7F91FB4214}" type="slidenum">
              <a:rPr lang="en-US" altLang="en-US" sz="1200"/>
              <a:pPr/>
              <a:t>13</a:t>
            </a:fld>
            <a:r>
              <a:rPr lang="en-US" altLang="en-US" sz="1200"/>
              <a:t> / 15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E2F29ED-DC0B-4BD5-8C89-2E7840FF5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8588"/>
            <a:ext cx="8991600" cy="715962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25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Đánh giá khả năng mở rộng worker</a:t>
            </a:r>
            <a:endParaRPr lang="en-US" sz="25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436" name="Content Placeholder 2">
            <a:extLst>
              <a:ext uri="{FF2B5EF4-FFF2-40B4-BE49-F238E27FC236}">
                <a16:creationId xmlns:a16="http://schemas.microsoft.com/office/drawing/2014/main" id="{3D45E791-A8C9-3710-3AB1-0B1E8CADF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1" y="1020762"/>
            <a:ext cx="8610600" cy="167640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vi-VN"/>
              <a:t>1 Worker: 30 job/giờ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vi-VN"/>
              <a:t>3 Worker: 94.5 job/giờ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vi-VN"/>
              <a:t>5 Worker: throughput tăng nhưng CPU bão hòa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A9D7495-9863-A30B-9A07-4D1C252A80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915159"/>
              </p:ext>
            </p:extLst>
          </p:nvPr>
        </p:nvGraphicFramePr>
        <p:xfrm>
          <a:off x="266700" y="2864230"/>
          <a:ext cx="8382001" cy="1524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939008968"/>
                    </a:ext>
                  </a:extLst>
                </a:gridCol>
                <a:gridCol w="2129919">
                  <a:extLst>
                    <a:ext uri="{9D8B030D-6E8A-4147-A177-3AD203B41FA5}">
                      <a16:colId xmlns:a16="http://schemas.microsoft.com/office/drawing/2014/main" val="195134645"/>
                    </a:ext>
                  </a:extLst>
                </a:gridCol>
                <a:gridCol w="1538725">
                  <a:extLst>
                    <a:ext uri="{9D8B030D-6E8A-4147-A177-3AD203B41FA5}">
                      <a16:colId xmlns:a16="http://schemas.microsoft.com/office/drawing/2014/main" val="3146296298"/>
                    </a:ext>
                  </a:extLst>
                </a:gridCol>
                <a:gridCol w="1538725">
                  <a:extLst>
                    <a:ext uri="{9D8B030D-6E8A-4147-A177-3AD203B41FA5}">
                      <a16:colId xmlns:a16="http://schemas.microsoft.com/office/drawing/2014/main" val="378852991"/>
                    </a:ext>
                  </a:extLst>
                </a:gridCol>
                <a:gridCol w="1498232">
                  <a:extLst>
                    <a:ext uri="{9D8B030D-6E8A-4147-A177-3AD203B41FA5}">
                      <a16:colId xmlns:a16="http://schemas.microsoft.com/office/drawing/2014/main" val="22580335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Cấu hình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Thời gian trung bình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Throughput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CPU cực đại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RAM cực đại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1573919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1 Worker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120.2 giây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30 job/giờ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Thấp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Thấp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612049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3 Workers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114.4 giây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94.5 job/giờ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84.6%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3.35 GB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536835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5 Workers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139.3 giây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129.2 job/giờ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391% (4 vCPU)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>
                          <a:tab pos="3067050" algn="l"/>
                        </a:tabLst>
                      </a:pPr>
                      <a:r>
                        <a:rPr lang="vi-VN" sz="1300">
                          <a:effectLst/>
                        </a:rPr>
                        <a:t>6.57 GB</a:t>
                      </a:r>
                      <a:endParaRPr lang="vi-VN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73090887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B3459A5D-0CBA-F5D5-641D-C92C019B6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1" y="4508418"/>
            <a:ext cx="4259961" cy="174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238E3513-BA01-C655-B6CE-FA1546835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760" y="4587876"/>
            <a:ext cx="4210143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>
            <a:extLst>
              <a:ext uri="{FF2B5EF4-FFF2-40B4-BE49-F238E27FC236}">
                <a16:creationId xmlns:a16="http://schemas.microsoft.com/office/drawing/2014/main" id="{16B8510E-9762-937C-106A-BA38C9235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A14D94-1067-48BF-90D1-51090908177F}" type="slidenum">
              <a:rPr lang="en-US" altLang="en-US" sz="1200"/>
              <a:pPr/>
              <a:t>14</a:t>
            </a:fld>
            <a:r>
              <a:rPr lang="en-US" altLang="en-US" sz="1200"/>
              <a:t> / 15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E2F29ED-DC0B-4BD5-8C89-2E7840FF5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8588"/>
            <a:ext cx="8991600" cy="715962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25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Kết quả và đóng góp</a:t>
            </a:r>
            <a:endParaRPr lang="en-US" sz="25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460" name="Content Placeholder 2">
            <a:extLst>
              <a:ext uri="{FF2B5EF4-FFF2-40B4-BE49-F238E27FC236}">
                <a16:creationId xmlns:a16="http://schemas.microsoft.com/office/drawing/2014/main" id="{1C3EC028-039E-0DD4-FB22-78D212AA8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" y="1277747"/>
            <a:ext cx="8839200" cy="327660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vi-VN"/>
              <a:t>Pipeline tự động hóa từ tài liệu/URL đến video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vi-VN"/>
              <a:t>Kiến trúc Worker phân tán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vi-VN"/>
              <a:t>Human-in-the-loop kiểm duyệt nội dung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vi-VN"/>
              <a:t>Session Snapshot giảm lỗi đăng nhập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vi-VN"/>
              <a:t>Audio Master Timeline đồng bộ âm - hình</a:t>
            </a:r>
            <a:endParaRPr lang="vi-VN" altLang="vi-V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4734C-DEFB-D0A8-C901-E8B221FFB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>
            <a:extLst>
              <a:ext uri="{FF2B5EF4-FFF2-40B4-BE49-F238E27FC236}">
                <a16:creationId xmlns:a16="http://schemas.microsoft.com/office/drawing/2014/main" id="{C4D39C58-D4E7-71DF-4A20-B655AF90A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A14D94-1067-48BF-90D1-51090908177F}" type="slidenum">
              <a:rPr lang="en-US" altLang="en-US" sz="1200"/>
              <a:pPr/>
              <a:t>15</a:t>
            </a:fld>
            <a:r>
              <a:rPr lang="en-US" altLang="en-US" sz="1200"/>
              <a:t> / 15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D68A15-4024-0C22-BE07-449D6AFD1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8588"/>
            <a:ext cx="8991600" cy="715962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25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Kết luận và hướng phát triển</a:t>
            </a:r>
            <a:endParaRPr lang="en-US" sz="25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460" name="Content Placeholder 2">
            <a:extLst>
              <a:ext uri="{FF2B5EF4-FFF2-40B4-BE49-F238E27FC236}">
                <a16:creationId xmlns:a16="http://schemas.microsoft.com/office/drawing/2014/main" id="{3D1C12A1-6FB3-49B4-03E8-2BB0C6148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219200"/>
            <a:ext cx="8877300" cy="4114800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 b="1"/>
              <a:t>Kết luận</a:t>
            </a:r>
            <a:endParaRPr lang="vi-VN"/>
          </a:p>
          <a:p>
            <a:pPr marL="3429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 sz="2100"/>
              <a:t>Hệ thống đã triển khai được quy trình tạo video bài giảng tự động </a:t>
            </a:r>
          </a:p>
          <a:p>
            <a:pPr marL="3429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 sz="2100"/>
              <a:t>Hệ thống có kiến trúc, thực nghiệm và kết quả đánh giá rõ ràng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 b="1"/>
              <a:t>Hướng phát triển</a:t>
            </a:r>
            <a:endParaRPr lang="vi-VN"/>
          </a:p>
          <a:p>
            <a:pPr marL="3429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 sz="2100"/>
              <a:t>Đa dạng hóa provider AI </a:t>
            </a:r>
          </a:p>
          <a:p>
            <a:pPr marL="3429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 sz="2100"/>
              <a:t>Mở rộng hạ tầng Worker </a:t>
            </a:r>
          </a:p>
          <a:p>
            <a:pPr marL="3429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 sz="2100"/>
              <a:t>Nâng cấp thị giác máy tính </a:t>
            </a:r>
          </a:p>
          <a:p>
            <a:pPr marL="3429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vi-VN" sz="2100"/>
              <a:t>Đóng gói thành nền tảng dịch vụ đám mây</a:t>
            </a:r>
          </a:p>
        </p:txBody>
      </p:sp>
    </p:spTree>
    <p:extLst>
      <p:ext uri="{BB962C8B-B14F-4D97-AF65-F5344CB8AC3E}">
        <p14:creationId xmlns:p14="http://schemas.microsoft.com/office/powerpoint/2010/main" val="1289355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>
            <a:extLst>
              <a:ext uri="{FF2B5EF4-FFF2-40B4-BE49-F238E27FC236}">
                <a16:creationId xmlns:a16="http://schemas.microsoft.com/office/drawing/2014/main" id="{B67B259E-90A2-3D85-CAC8-FFB831B5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238625" y="6264275"/>
            <a:ext cx="6667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4FB3F49-0B12-4A53-A837-0D760C5E2135}" type="slidenum">
              <a:rPr lang="en-US" altLang="en-US" sz="1200"/>
              <a:pPr/>
              <a:t>16</a:t>
            </a:fld>
            <a:r>
              <a:rPr lang="en-US" altLang="en-US" sz="1200"/>
              <a:t> / 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B8E647-DF9B-4B87-9755-1C54A6D0451C}"/>
              </a:ext>
            </a:extLst>
          </p:cNvPr>
          <p:cNvSpPr/>
          <p:nvPr/>
        </p:nvSpPr>
        <p:spPr>
          <a:xfrm>
            <a:off x="155575" y="2667000"/>
            <a:ext cx="8607425" cy="117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r>
              <a:rPr lang="vi-VN" sz="2500" b="1" dirty="0">
                <a:solidFill>
                  <a:schemeClr val="accent5">
                    <a:lumMod val="50000"/>
                  </a:schemeClr>
                </a:solidFill>
                <a:cs typeface="Arial" pitchFamily="34" charset="0"/>
              </a:rPr>
              <a:t>BÀI THUYẾT </a:t>
            </a:r>
            <a:r>
              <a:rPr lang="vi-VN" sz="2500" b="1">
                <a:solidFill>
                  <a:schemeClr val="accent5">
                    <a:lumMod val="50000"/>
                  </a:schemeClr>
                </a:solidFill>
                <a:cs typeface="Arial" pitchFamily="34" charset="0"/>
              </a:rPr>
              <a:t>TRÌNH CỦA </a:t>
            </a:r>
            <a:r>
              <a:rPr lang="vi-VN" sz="2500" b="1" dirty="0">
                <a:solidFill>
                  <a:schemeClr val="accent5">
                    <a:lumMod val="50000"/>
                  </a:schemeClr>
                </a:solidFill>
                <a:cs typeface="Arial" pitchFamily="34" charset="0"/>
              </a:rPr>
              <a:t>EM ĐẾN ĐÂY KẾT THÚC</a:t>
            </a:r>
          </a:p>
          <a:p>
            <a:pPr algn="ctr" eaLnBrk="1" hangingPunct="1">
              <a:lnSpc>
                <a:spcPct val="150000"/>
              </a:lnSpc>
              <a:defRPr/>
            </a:pPr>
            <a:r>
              <a:rPr lang="vi-VN" sz="2500" b="1" dirty="0">
                <a:solidFill>
                  <a:schemeClr val="accent5">
                    <a:lumMod val="50000"/>
                  </a:schemeClr>
                </a:solidFill>
                <a:cs typeface="Arial" pitchFamily="34" charset="0"/>
              </a:rPr>
              <a:t>XIN CẢM </a:t>
            </a:r>
            <a:r>
              <a:rPr lang="vi-VN" sz="2500" b="1">
                <a:solidFill>
                  <a:schemeClr val="accent5">
                    <a:lumMod val="50000"/>
                  </a:schemeClr>
                </a:solidFill>
                <a:cs typeface="Arial" pitchFamily="34" charset="0"/>
              </a:rPr>
              <a:t>ƠN THẦY/CÔ </a:t>
            </a:r>
            <a:r>
              <a:rPr lang="vi-VN" sz="2500" b="1" dirty="0">
                <a:solidFill>
                  <a:schemeClr val="accent5">
                    <a:lumMod val="50000"/>
                  </a:schemeClr>
                </a:solidFill>
                <a:cs typeface="Arial" pitchFamily="34" charset="0"/>
              </a:rPr>
              <a:t>ĐÃ CHÚ Ý LẮNG NGHE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256&quot;/&gt;&lt;/object&gt;&lt;object type=&quot;3&quot; unique_id=&quot;10549&quot;&gt;&lt;property id=&quot;20148&quot; value=&quot;5&quot;/&gt;&lt;property id=&quot;20300&quot; value=&quot;Slide 2 - &amp;quot;Kỹ thuật ước lượng và đánh giá&amp;#x0D;&amp;#x0A;Ước lượng khoa học&amp;quot;&quot;/&gt;&lt;property id=&quot;20307&quot; value=&quot;257&quot;/&gt;&lt;/object&gt;&lt;object type=&quot;3&quot; unique_id=&quot;10551&quot;&gt;&lt;property id=&quot;20148&quot; value=&quot;5&quot;/&gt;&lt;property id=&quot;20300&quot; value=&quot;Slide 3 - &amp;quot;Các kỹ thuật làm ước lượng&amp;quot;&quot;/&gt;&lt;property id=&quot;20307&quot; value=&quot;259&quot;/&gt;&lt;/object&gt;&lt;object type=&quot;3&quot; unique_id=&quot;10552&quot;&gt;&lt;property id=&quot;20148&quot; value=&quot;5&quot;/&gt;&lt;property id=&quot;20300&quot; value=&quot;Slide 4 - &amp;quot;Các kỹ thuật làm ước lượng&amp;quot;&quot;/&gt;&lt;property id=&quot;20307&quot; value=&quot;260&quot;/&gt;&lt;/object&gt;&lt;object type=&quot;3&quot; unique_id=&quot;10553&quot;&gt;&lt;property id=&quot;20148&quot; value=&quot;5&quot;/&gt;&lt;property id=&quot;20300&quot; value=&quot;Slide 5 - &amp;quot;Các kỹ thuật làm ước lượng&amp;quot;&quot;/&gt;&lt;property id=&quot;20307&quot; value=&quot;261&quot;/&gt;&lt;/object&gt;&lt;object type=&quot;3&quot; unique_id=&quot;10554&quot;&gt;&lt;property id=&quot;20148&quot; value=&quot;5&quot;/&gt;&lt;property id=&quot;20300&quot; value=&quot;Slide 6 - &amp;quot;Các kỹ thuật làm ước lượng&amp;quot;&quot;/&gt;&lt;property id=&quot;20307&quot; value=&quot;262&quot;/&gt;&lt;/object&gt;&lt;object type=&quot;3&quot; unique_id=&quot;10555&quot;&gt;&lt;property id=&quot;20148&quot; value=&quot;5&quot;/&gt;&lt;property id=&quot;20300&quot; value=&quot;Slide 7 - &amp;quot;Các kỹ thuật làm ước lượng&amp;quot;&quot;/&gt;&lt;property id=&quot;20307&quot; value=&quot;263&quot;/&gt;&lt;/object&gt;&lt;object type=&quot;3&quot; unique_id=&quot;10556&quot;&gt;&lt;property id=&quot;20148&quot; value=&quot;5&quot;/&gt;&lt;property id=&quot;20300&quot; value=&quot;Slide 8 - &amp;quot;Các kỹ thuật làm ước lượng&amp;quot;&quot;/&gt;&lt;property id=&quot;20307&quot; value=&quot;264&quot;/&gt;&lt;/object&gt;&lt;object type=&quot;3&quot; unique_id=&quot;10557&quot;&gt;&lt;property id=&quot;20148&quot; value=&quot;5&quot;/&gt;&lt;property id=&quot;20300&quot; value=&quot;Slide 9 - &amp;quot;Các kỹ thuật làm ước lượng&amp;quot;&quot;/&gt;&lt;property id=&quot;20307&quot; value=&quot;265&quot;/&gt;&lt;/object&gt;&lt;object type=&quot;3&quot; unique_id=&quot;10558&quot;&gt;&lt;property id=&quot;20148&quot; value=&quot;5&quot;/&gt;&lt;property id=&quot;20300&quot; value=&quot;Slide 10 - &amp;quot;Các kỹ thuật làm ước lượng&amp;quot;&quot;/&gt;&lt;property id=&quot;20307&quot; value=&quot;266&quot;/&gt;&lt;/object&gt;&lt;object type=&quot;3&quot; unique_id=&quot;10559&quot;&gt;&lt;property id=&quot;20148&quot; value=&quot;5&quot;/&gt;&lt;property id=&quot;20300&quot; value=&quot;Slide 11 - &amp;quot;Các kỹ thuật làm ước lượng&amp;quot;&quot;/&gt;&lt;property id=&quot;20307&quot; value=&quot;267&quot;/&gt;&lt;/object&gt;&lt;object type=&quot;3&quot; unique_id=&quot;10560&quot;&gt;&lt;property id=&quot;20148&quot; value=&quot;5&quot;/&gt;&lt;property id=&quot;20300&quot; value=&quot;Slide 12 - &amp;quot;Các bước khi làm ước lượng&amp;quot;&quot;/&gt;&lt;property id=&quot;20307&quot; value=&quot;268&quot;/&gt;&lt;/object&gt;&lt;object type=&quot;3&quot; unique_id=&quot;10561&quot;&gt;&lt;property id=&quot;20148&quot; value=&quot;5&quot;/&gt;&lt;property id=&quot;20300&quot; value=&quot;Slide 13 - &amp;quot;Các bước khi làm ước lượng&amp;quot;&quot;/&gt;&lt;property id=&quot;20307&quot; value=&quot;269&quot;/&gt;&lt;/object&gt;&lt;object type=&quot;3&quot; unique_id=&quot;10563&quot;&gt;&lt;property id=&quot;20148&quot; value=&quot;5&quot;/&gt;&lt;property id=&quot;20300&quot; value=&quot;Slide 14 - &amp;quot;Các bước khi làm ước lượng&amp;quot;&quot;/&gt;&lt;property id=&quot;20307&quot; value=&quot;271&quot;/&gt;&lt;/object&gt;&lt;object type=&quot;3&quot; unique_id=&quot;10565&quot;&gt;&lt;property id=&quot;20148&quot; value=&quot;5&quot;/&gt;&lt;property id=&quot;20300&quot; value=&quot;Slide 15 - &amp;quot;Một số hướng dẫn trợ giúp ước lượng thời gian cho dự án CNTT&amp;quot;&quot;/&gt;&lt;property id=&quot;20307&quot; value=&quot;273&quot;/&gt;&lt;/object&gt;&lt;object type=&quot;3&quot; unique_id=&quot;10566&quot;&gt;&lt;property id=&quot;20148&quot; value=&quot;5&quot;/&gt;&lt;property id=&quot;20300&quot; value=&quot;Slide 16 - &amp;quot;Một số hướng dẫn trợ giúp ước lượng thời gian cho dự án CNTT&amp;quot;&quot;/&gt;&lt;property id=&quot;20307&quot; value=&quot;274&quot;/&gt;&lt;/object&gt;&lt;object type=&quot;3&quot; unique_id=&quot;10567&quot;&gt;&lt;property id=&quot;20148&quot; value=&quot;5&quot;/&gt;&lt;property id=&quot;20300&quot; value=&quot;Slide 17 - &amp;quot;Một số hướng dẫn trợ giúp ước lượng thời gian cho dự án CNTT&amp;quot;&quot;/&gt;&lt;property id=&quot;20307&quot; value=&quot;275&quot;/&gt;&lt;/object&gt;&lt;object type=&quot;3&quot; unique_id=&quot;10568&quot;&gt;&lt;property id=&quot;20148&quot; value=&quot;5&quot;/&gt;&lt;property id=&quot;20300&quot; value=&quot;Slide 18 - &amp;quot;Một số hướng dẫn trợ giúp ước lượng thời gian cho dự án CNTT&amp;quot;&quot;/&gt;&lt;property id=&quot;20307&quot; value=&quot;276&quot;/&gt;&lt;/object&gt;&lt;object type=&quot;3&quot; unique_id=&quot;10591&quot;&gt;&lt;property id=&quot;20148&quot; value=&quot;5&quot;/&gt;&lt;property id=&quot;20300&quot; value=&quot;Slide 19 - &amp;quot;Ước lượng phi khoa học&amp;quot;&quot;/&gt;&lt;property id=&quot;20307&quot; value=&quot;27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3299</TotalTime>
  <Words>613</Words>
  <Application>Microsoft Office PowerPoint</Application>
  <PresentationFormat>On-screen Show (4:3)</PresentationFormat>
  <Paragraphs>107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Bối cảnh và vấn đề </vt:lpstr>
      <vt:lpstr>Khoảng trống và mục tiêu nghiên cứu</vt:lpstr>
      <vt:lpstr>AI Agent và ReAct</vt:lpstr>
      <vt:lpstr>Kiến trúc tổng thể</vt:lpstr>
      <vt:lpstr>Kiến trúc worker</vt:lpstr>
      <vt:lpstr>Các cơ chế kỹ thuật được sử dụng</vt:lpstr>
      <vt:lpstr>Điều phối bất đồng bộ</vt:lpstr>
      <vt:lpstr>Cơ chế điểm dừng kiểm duyệt</vt:lpstr>
      <vt:lpstr>Session snapshot</vt:lpstr>
      <vt:lpstr>Timeline chuẩn dựa trên audio</vt:lpstr>
      <vt:lpstr>Đánh giá FPS</vt:lpstr>
      <vt:lpstr>Đánh giá khả năng mở rộng worker</vt:lpstr>
      <vt:lpstr>Kết quả và đóng góp</vt:lpstr>
      <vt:lpstr>Kết luận và hướng phát triển</vt:lpstr>
      <vt:lpstr>PowerPoint Presentation</vt:lpstr>
    </vt:vector>
  </TitlesOfParts>
  <Company>Tel : 0918085180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XiaoPing Nguyen</dc:creator>
  <cp:lastModifiedBy>Tổng Nguyễn Văn</cp:lastModifiedBy>
  <cp:revision>742</cp:revision>
  <dcterms:created xsi:type="dcterms:W3CDTF">2011-07-26T06:52:03Z</dcterms:created>
  <dcterms:modified xsi:type="dcterms:W3CDTF">2026-06-25T06:18:18Z</dcterms:modified>
</cp:coreProperties>
</file>